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9" r:id="rId3"/>
    <p:sldId id="270" r:id="rId4"/>
    <p:sldId id="257" r:id="rId5"/>
    <p:sldId id="258" r:id="rId6"/>
    <p:sldId id="259" r:id="rId7"/>
    <p:sldId id="271" r:id="rId8"/>
    <p:sldId id="260" r:id="rId9"/>
    <p:sldId id="261" r:id="rId10"/>
    <p:sldId id="263" r:id="rId11"/>
    <p:sldId id="264" r:id="rId12"/>
    <p:sldId id="273" r:id="rId13"/>
    <p:sldId id="272" r:id="rId14"/>
    <p:sldId id="266" r:id="rId15"/>
    <p:sldId id="267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4" Type="http://schemas.openxmlformats.org/officeDocument/2006/relationships/slideLayout" Target="../slideLayouts/slideLayout7.xml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8.png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image" Target="../media/image35.png"/><Relationship Id="rId7" Type="http://schemas.openxmlformats.org/officeDocument/2006/relationships/image" Target="../media/image34.png"/><Relationship Id="rId6" Type="http://schemas.openxmlformats.org/officeDocument/2006/relationships/image" Target="../media/image33.png"/><Relationship Id="rId5" Type="http://schemas.openxmlformats.org/officeDocument/2006/relationships/image" Target="../media/image7.png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37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Google Shape;174;p25"/>
          <p:cNvSpPr txBox="1"/>
          <p:nvPr/>
        </p:nvSpPr>
        <p:spPr>
          <a:xfrm>
            <a:off x="6051169" y="3741946"/>
            <a:ext cx="5898565" cy="1505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400" b="1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Presented To </a:t>
            </a:r>
            <a:r>
              <a:rPr lang="en-US" sz="2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-</a:t>
            </a:r>
            <a:endParaRPr sz="2400" b="0" i="0" u="none" strike="noStrike" cap="none" dirty="0">
              <a:solidFill>
                <a:srgbClr val="0070C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 algn="ctr">
              <a:buSzPts val="2400"/>
            </a:pPr>
            <a:r>
              <a:rPr lang="en-US" sz="2000" b="1" dirty="0"/>
              <a:t>Wahia Tasnim</a:t>
            </a:r>
            <a:endParaRPr lang="en-US" sz="2000" b="1" dirty="0"/>
          </a:p>
          <a:p>
            <a:pPr algn="ctr">
              <a:buSzPts val="2400"/>
            </a:pPr>
            <a:r>
              <a:rPr lang="en-US" sz="2000" b="1" dirty="0"/>
              <a:t>Lecturer, Dept of CSE at GUB</a:t>
            </a:r>
            <a:endParaRPr lang="en-US" sz="2000" b="1" dirty="0"/>
          </a:p>
          <a:p>
            <a:pPr lvl="0" algn="ctr">
              <a:buSzPts val="2400"/>
            </a:pPr>
            <a:endParaRPr lang="en-US" sz="800" b="1" dirty="0"/>
          </a:p>
          <a:p>
            <a:pPr lvl="0" algn="ctr">
              <a:buSzPts val="2400"/>
            </a:pPr>
            <a:endParaRPr sz="2000" b="1" i="0" u="none" strike="noStrike" cap="none" dirty="0"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4" name="Google Shape;175;p25"/>
          <p:cNvSpPr txBox="1"/>
          <p:nvPr/>
        </p:nvSpPr>
        <p:spPr>
          <a:xfrm>
            <a:off x="294971" y="1221602"/>
            <a:ext cx="11709400" cy="643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0000"/>
              </a:buClr>
              <a:buSzPts val="4800"/>
            </a:pPr>
            <a:r>
              <a:rPr sz="3600">
                <a:solidFill>
                  <a:schemeClr val="tx1"/>
                </a:solidFill>
                <a:latin typeface="Plus Jakarta Sans ExtraBold"/>
                <a:sym typeface="+mn-ea"/>
              </a:rPr>
              <a:t>Bank Management System</a:t>
            </a:r>
            <a:endParaRPr lang="en-US" sz="3600" b="1" i="0" u="none" strike="noStrike" cap="none" dirty="0">
              <a:solidFill>
                <a:schemeClr val="tx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176;p25"/>
          <p:cNvSpPr txBox="1"/>
          <p:nvPr/>
        </p:nvSpPr>
        <p:spPr>
          <a:xfrm>
            <a:off x="294971" y="3681350"/>
            <a:ext cx="5121781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Presented By,</a:t>
            </a:r>
            <a:endParaRPr sz="2400" b="1" i="0" u="none" strike="noStrike" cap="none" dirty="0">
              <a:solidFill>
                <a:srgbClr val="0070C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000" b="1" dirty="0"/>
              <a:t>MD Zahurul Islam Sakib</a:t>
            </a:r>
            <a:r>
              <a:rPr lang="en-US" sz="2000" b="1" i="0" u="none" strike="noStrike" cap="none" dirty="0">
                <a:ea typeface="Arial" panose="020B0604020202020204"/>
                <a:cs typeface="Arial" panose="020B0604020202020204"/>
                <a:sym typeface="Arial" panose="020B0604020202020204"/>
              </a:rPr>
              <a:t>– 221002244</a:t>
            </a:r>
            <a:endParaRPr sz="2000" b="1" i="0" u="none" strike="noStrike" cap="none" dirty="0">
              <a:ea typeface="Arial" panose="020B0604020202020204"/>
              <a:cs typeface="Arial" panose="020B0604020202020204"/>
              <a:sym typeface="Arial" panose="020B0604020202020204"/>
            </a:endParaRPr>
          </a:p>
          <a:p>
            <a:pPr lvl="0" algn="ctr">
              <a:spcBef>
                <a:spcPts val="800"/>
              </a:spcBef>
              <a:buSzPts val="2400"/>
            </a:pPr>
            <a:endParaRPr lang="en-US" sz="2000" b="1" dirty="0"/>
          </a:p>
        </p:txBody>
      </p:sp>
      <p:sp>
        <p:nvSpPr>
          <p:cNvPr id="7" name="Google Shape;178;p25"/>
          <p:cNvSpPr txBox="1"/>
          <p:nvPr/>
        </p:nvSpPr>
        <p:spPr>
          <a:xfrm>
            <a:off x="2444748" y="2204699"/>
            <a:ext cx="7302500" cy="520700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lt1"/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6E6E6E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Project_Presentation – Summer 2026</a:t>
            </a:r>
            <a:endParaRPr sz="2800" dirty="0"/>
          </a:p>
        </p:txBody>
      </p:sp>
      <p:sp>
        <p:nvSpPr>
          <p:cNvPr id="8" name="Google Shape;179;p25"/>
          <p:cNvSpPr txBox="1"/>
          <p:nvPr/>
        </p:nvSpPr>
        <p:spPr>
          <a:xfrm>
            <a:off x="1240850" y="5609462"/>
            <a:ext cx="9676661" cy="892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Department of Computer Science and Engineering</a:t>
            </a:r>
            <a:endParaRPr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ea typeface="Arial" panose="020B0604020202020204"/>
                <a:cs typeface="Times New Roman" panose="02020603050405020304" pitchFamily="18" charset="0"/>
                <a:sym typeface="Arial" panose="020B0604020202020204"/>
              </a:rPr>
              <a:t>Green University of Bangladesh </a:t>
            </a:r>
            <a:endParaRPr sz="1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Google Shape;180;p2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709025" y="102790"/>
            <a:ext cx="2773947" cy="1154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00" y="127000"/>
            <a:ext cx="12192000" cy="6858000"/>
          </a:xfrm>
          <a:prstGeom prst="rect">
            <a:avLst/>
          </a:prstGeom>
        </p:spPr>
      </p:pic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00" y="25400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79786"/>
            <a:ext cx="2619375" cy="239553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1375" y="2579786"/>
            <a:ext cx="2619375" cy="2395537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2579786"/>
            <a:ext cx="2619375" cy="23955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2579786"/>
            <a:ext cx="2619375" cy="23955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775" y="2903636"/>
            <a:ext cx="514350" cy="514350"/>
          </a:xfrm>
          <a:prstGeom prst="rect">
            <a:avLst/>
          </a:prstGeom>
        </p:spPr>
      </p:pic>
      <p:sp>
        <p:nvSpPr>
          <p:cNvPr id="10" name="TextBox 7"/>
          <p:cNvSpPr txBox="1"/>
          <p:nvPr/>
        </p:nvSpPr>
        <p:spPr>
          <a:xfrm>
            <a:off x="866775" y="3608486"/>
            <a:ext cx="1486279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01. Introduction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8"/>
          <p:cNvSpPr txBox="1"/>
          <p:nvPr/>
        </p:nvSpPr>
        <p:spPr>
          <a:xfrm>
            <a:off x="866775" y="4037111"/>
            <a:ext cx="20288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• System Motivation &amp; Overview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• Objectives &amp; Scope</a:t>
            </a:r>
            <a:endParaRPr sz="1125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6650" y="2903636"/>
            <a:ext cx="514350" cy="514350"/>
          </a:xfrm>
          <a:prstGeom prst="rect">
            <a:avLst/>
          </a:prstGeom>
        </p:spPr>
      </p:pic>
      <p:sp>
        <p:nvSpPr>
          <p:cNvPr id="13" name="TextBox 10"/>
          <p:cNvSpPr txBox="1"/>
          <p:nvPr/>
        </p:nvSpPr>
        <p:spPr>
          <a:xfrm>
            <a:off x="3676650" y="3608486"/>
            <a:ext cx="152628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02. Architecture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1"/>
          <p:cNvSpPr txBox="1"/>
          <p:nvPr/>
        </p:nvSpPr>
        <p:spPr>
          <a:xfrm>
            <a:off x="3676650" y="4037111"/>
            <a:ext cx="202882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• Execution Loop &amp; CSV Schema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• Core Functional Engines</a:t>
            </a:r>
            <a:endParaRPr sz="1125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525" y="2903636"/>
            <a:ext cx="514350" cy="514350"/>
          </a:xfrm>
          <a:prstGeom prst="rect">
            <a:avLst/>
          </a:prstGeom>
        </p:spPr>
      </p:pic>
      <p:sp>
        <p:nvSpPr>
          <p:cNvPr id="16" name="TextBox 13"/>
          <p:cNvSpPr txBox="1"/>
          <p:nvPr/>
        </p:nvSpPr>
        <p:spPr>
          <a:xfrm>
            <a:off x="6486525" y="3608486"/>
            <a:ext cx="134423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03. Evaluation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7" name="TextBox 14"/>
          <p:cNvSpPr txBox="1"/>
          <p:nvPr/>
        </p:nvSpPr>
        <p:spPr>
          <a:xfrm>
            <a:off x="6486525" y="4037111"/>
            <a:ext cx="169545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• Verification Metrics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• Test Verification Matrix</a:t>
            </a:r>
            <a:endParaRPr sz="1125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6400" y="2903636"/>
            <a:ext cx="514350" cy="514350"/>
          </a:xfrm>
          <a:prstGeom prst="rect">
            <a:avLst/>
          </a:prstGeom>
        </p:spPr>
      </p:pic>
      <p:sp>
        <p:nvSpPr>
          <p:cNvPr id="19" name="TextBox 16"/>
          <p:cNvSpPr txBox="1"/>
          <p:nvPr/>
        </p:nvSpPr>
        <p:spPr>
          <a:xfrm>
            <a:off x="9296400" y="3608486"/>
            <a:ext cx="142424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04. Conclusion</a:t>
            </a:r>
            <a:endParaRPr sz="15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0" name="TextBox 17"/>
          <p:cNvSpPr txBox="1"/>
          <p:nvPr/>
        </p:nvSpPr>
        <p:spPr>
          <a:xfrm>
            <a:off x="9296400" y="4037111"/>
            <a:ext cx="1571625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 sz="1125" b="0" i="0" u="none">
                <a:solidFill>
                  <a:srgbClr val="64748B"/>
                </a:solidFill>
                <a:latin typeface="Inter"/>
              </a:rPr>
              <a:t>• Practical Implications</a:t>
            </a:r>
            <a:r>
              <a:t>
</a:t>
            </a:r>
            <a:r>
              <a:rPr sz="1125" b="0" i="0" u="none">
                <a:solidFill>
                  <a:srgbClr val="64748B"/>
                </a:solidFill>
                <a:latin typeface="Inter"/>
              </a:rPr>
              <a:t> • Future Scope &amp; Q&amp;A</a:t>
            </a:r>
            <a:endParaRPr sz="1125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6800" y="3046511"/>
            <a:ext cx="114300" cy="2286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7625" y="3046511"/>
            <a:ext cx="152400" cy="2286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2262" y="3046511"/>
            <a:ext cx="14287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67850" y="3046511"/>
            <a:ext cx="171450" cy="228600"/>
          </a:xfrm>
          <a:prstGeom prst="rect">
            <a:avLst/>
          </a:prstGeom>
        </p:spPr>
      </p:pic>
      <p:sp>
        <p:nvSpPr>
          <p:cNvPr id="25" name="TextBox 22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Table of Contents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36336" y="2686050"/>
            <a:ext cx="711932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lus Jakarta Sans"/>
              </a:rPr>
              <a:t>01. Introduction &amp; Objectives</a:t>
            </a:r>
            <a:endParaRPr sz="39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0" y="3648075"/>
            <a:ext cx="762000" cy="476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196780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186880"/>
            <a:ext cx="50673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Automated CLI Banking Utility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8200" y="3110805"/>
            <a:ext cx="50673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Flat-File Persistence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38200" y="3853755"/>
            <a:ext cx="50673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Overdraft &amp; Validation Logic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38200" y="4596705"/>
            <a:ext cx="50673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Unique Account Generation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6025" y="197733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Project Overview &amp; Objectives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05930"/>
            <a:ext cx="114300" cy="1428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129855"/>
            <a:ext cx="114300" cy="1428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872805"/>
            <a:ext cx="114300" cy="1428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15755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70456" y="2686050"/>
            <a:ext cx="6250937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lus Jakarta Sans"/>
              </a:rPr>
              <a:t>02. Architecture &amp; Design</a:t>
            </a:r>
            <a:endParaRPr sz="39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0" y="3648075"/>
            <a:ext cx="762000" cy="476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hatGPT Image Aug 23, 2026, 09_04_4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0"/>
            <a:ext cx="4572000" cy="685800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3975" y="439420"/>
            <a:ext cx="6096000" cy="5067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sz="2700" b="1">
                <a:solidFill>
                  <a:srgbClr val="0F172A"/>
                </a:solidFill>
                <a:latin typeface="Plus Jakarta Sans"/>
                <a:sym typeface="+mn-ea"/>
              </a:rPr>
              <a:t>System Architecture</a:t>
            </a:r>
            <a:endParaRPr lang="en-GB" altLang="en-US" sz="2700" b="1">
              <a:solidFill>
                <a:srgbClr val="0F172A"/>
              </a:solidFill>
              <a:latin typeface="Plus Jakarta Sans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086867"/>
            <a:ext cx="5334000" cy="33813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6867"/>
            <a:ext cx="5334000" cy="33813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9400" y="3515617"/>
            <a:ext cx="4648200" cy="12150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2360" y="2429767"/>
            <a:ext cx="4515251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Plus Jakarta Sans"/>
              </a:rPr>
              <a:t>Modular Execution Flow</a:t>
            </a:r>
            <a:endParaRPr sz="1800" b="1" i="0" u="none">
              <a:solidFill>
                <a:srgbClr val="059669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858392"/>
            <a:ext cx="4648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system operates on an event-driven loop reading interactive user choices from the CLI menu: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920210" y="2429767"/>
            <a:ext cx="4575259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800" b="1" i="0" u="none">
                <a:solidFill>
                  <a:srgbClr val="059669"/>
                </a:solidFill>
                <a:latin typeface="Plus Jakarta Sans"/>
              </a:rPr>
              <a:t>Flat-File Database Schema</a:t>
            </a:r>
            <a:endParaRPr sz="1800" b="1" i="0" u="none">
              <a:solidFill>
                <a:srgbClr val="059669"/>
              </a:solidFill>
              <a:latin typeface="Plus Jakarta San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29400" y="2858392"/>
            <a:ext cx="46482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Records are persisted directly to </a:t>
            </a:r>
            <a:r>
              <a:rPr sz="1350" b="0" i="0" u="none">
                <a:solidFill>
                  <a:srgbClr val="059669"/>
                </a:solidFill>
                <a:latin typeface="Inter"/>
              </a:rPr>
              <a:t>accounts.txt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in a clean comma-separated format: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458342"/>
            <a:ext cx="25271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81100" y="3487042"/>
            <a:ext cx="4381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Option 1: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Account Creation Engine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81100" y="3896617"/>
            <a:ext cx="4381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Option 2: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Deposit Processing Engine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1100" y="4306192"/>
            <a:ext cx="4381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Option 3: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Conditional Withdrawal Engine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1100" y="4715767"/>
            <a:ext cx="4381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Option 4: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Graceful Termination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9400" y="2458342"/>
            <a:ext cx="19556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48475" y="3725167"/>
            <a:ext cx="280094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0"/>
              </a:lnSpc>
            </a:pPr>
            <a:r>
              <a:rPr sz="1050" b="0" i="0" u="none">
                <a:solidFill>
                  <a:srgbClr val="34D399"/>
                </a:solidFill>
                <a:latin typeface="Courier New" panose="02070309020205020404"/>
              </a:rPr>
              <a:t>ACCOUNT_NUMBER, OWNER_NAME, BALANCE</a:t>
            </a:r>
            <a:endParaRPr sz="1050" b="0" i="0" u="none">
              <a:solidFill>
                <a:srgbClr val="34D399"/>
              </a:solidFill>
              <a:latin typeface="Courier New" panose="020703090202050204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System Architecture &amp; Schema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506092"/>
            <a:ext cx="114300" cy="1428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3915667"/>
            <a:ext cx="114300" cy="1428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325242"/>
            <a:ext cx="114300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4734817"/>
            <a:ext cx="114300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571500" y="476250"/>
            <a:ext cx="5800725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Account Creation Engine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1173360"/>
            <a:ext cx="5800725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1" i="0" u="none">
                <a:solidFill>
                  <a:srgbClr val="059669"/>
                </a:solidFill>
                <a:latin typeface="Plus Jakarta Sans"/>
              </a:rPr>
              <a:t>Random ID &amp; Collision Check</a:t>
            </a:r>
            <a:endParaRPr sz="1950" b="1" i="0" u="none">
              <a:solidFill>
                <a:srgbClr val="059669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1500" y="1630560"/>
            <a:ext cx="5524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The account creation routine utilizes the native Bash </a:t>
            </a:r>
            <a:r>
              <a:rPr sz="1350" b="0" i="0" u="none">
                <a:solidFill>
                  <a:srgbClr val="059669"/>
                </a:solidFill>
                <a:latin typeface="Inter"/>
              </a:rPr>
              <a:t>$RANDOM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variable with arithmetic expansion to generate 10-digit IDs.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71500" y="2331541"/>
            <a:ext cx="55245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475569"/>
                </a:solidFill>
                <a:latin typeface="Inter"/>
              </a:rPr>
              <a:t>Before appending to the ledger, an automated </a:t>
            </a:r>
            <a:r>
              <a:rPr sz="1350" b="0" i="0" u="none">
                <a:solidFill>
                  <a:srgbClr val="059669"/>
                </a:solidFill>
                <a:latin typeface="Inter"/>
              </a:rPr>
              <a:t>grep -q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check runs inside a loop to ensure complete collision avoidance.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23" name="Text Box 22"/>
          <p:cNvSpPr txBox="1"/>
          <p:nvPr/>
        </p:nvSpPr>
        <p:spPr>
          <a:xfrm>
            <a:off x="571500" y="3572827"/>
            <a:ext cx="5080000" cy="2284095"/>
          </a:xfrm>
          <a:prstGeom prst="rect">
            <a:avLst/>
          </a:prstGeom>
          <a:solidFill>
            <a:schemeClr val="tx1"/>
          </a:solidFill>
        </p:spPr>
        <p:txBody>
          <a:bodyPr>
            <a:spAutoFit/>
          </a:bodyPr>
          <a:p>
            <a:pPr>
              <a:lnSpc>
                <a:spcPts val="1425"/>
              </a:lnSpc>
            </a:pPr>
            <a:r>
              <a:rPr sz="1600" b="0">
                <a:solidFill>
                  <a:srgbClr val="D2A8FF"/>
                </a:solidFill>
                <a:latin typeface="Consolas" panose="020B0609020204030204"/>
                <a:ea typeface="Consolas" panose="020B0609020204030204"/>
              </a:rPr>
              <a:t>generate_account_number</a:t>
            </a: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() {</a:t>
            </a:r>
            <a:endParaRPr sz="1600" b="0">
              <a:solidFill>
                <a:srgbClr val="BBBEB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6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while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true</a:t>
            </a: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; </a:t>
            </a:r>
            <a:r>
              <a:rPr sz="16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do</a:t>
            </a:r>
            <a:endParaRPr sz="1600" b="0">
              <a:solidFill>
                <a:srgbClr val="C586C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600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ACCOUNT_NUMBER</a:t>
            </a:r>
            <a:r>
              <a:rPr sz="16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=</a:t>
            </a: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$((</a:t>
            </a:r>
            <a:r>
              <a:rPr sz="16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RANDOM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%</a:t>
            </a:r>
            <a:r>
              <a:rPr sz="16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9000000000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+</a:t>
            </a:r>
            <a:r>
              <a:rPr sz="1600" b="0">
                <a:solidFill>
                  <a:srgbClr val="B5CEA8"/>
                </a:solidFill>
                <a:latin typeface="Consolas" panose="020B0609020204030204"/>
                <a:ea typeface="Consolas" panose="020B0609020204030204"/>
              </a:rPr>
              <a:t>1000000000</a:t>
            </a: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))</a:t>
            </a:r>
            <a:endParaRPr sz="1600" b="0">
              <a:solidFill>
                <a:srgbClr val="BBBEB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6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if</a:t>
            </a:r>
            <a:r>
              <a:rPr sz="1600" b="0">
                <a:solidFill>
                  <a:srgbClr val="D4D4D4"/>
                </a:solidFill>
                <a:latin typeface="Consolas" panose="020B0609020204030204"/>
                <a:ea typeface="Consolas" panose="020B0609020204030204"/>
              </a:rPr>
              <a:t>!</a:t>
            </a:r>
            <a:r>
              <a:rPr sz="1600" b="0">
                <a:solidFill>
                  <a:srgbClr val="FFA657"/>
                </a:solidFill>
                <a:latin typeface="Consolas" panose="020B0609020204030204"/>
                <a:ea typeface="Consolas" panose="020B0609020204030204"/>
              </a:rPr>
              <a:t>grep</a:t>
            </a:r>
            <a:r>
              <a:rPr sz="1600" b="0">
                <a:solidFill>
                  <a:srgbClr val="569CD6"/>
                </a:solidFill>
                <a:latin typeface="Consolas" panose="020B0609020204030204"/>
                <a:ea typeface="Consolas" panose="020B0609020204030204"/>
              </a:rPr>
              <a:t>-q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1600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$ACCOUNT_NUMBER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""</a:t>
            </a:r>
            <a:r>
              <a:rPr sz="1600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$ACCOUNT_FILE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; </a:t>
            </a:r>
            <a:r>
              <a:rPr sz="16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then</a:t>
            </a:r>
            <a:endParaRPr sz="1600" b="0">
              <a:solidFill>
                <a:srgbClr val="C586C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sz="1600" b="0">
                <a:solidFill>
                  <a:srgbClr val="DCDCAA"/>
                </a:solidFill>
                <a:latin typeface="Consolas" panose="020B0609020204030204"/>
                <a:ea typeface="Consolas" panose="020B0609020204030204"/>
              </a:rPr>
              <a:t>echo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r>
              <a:rPr sz="1600" b="0">
                <a:solidFill>
                  <a:srgbClr val="C9D1D9"/>
                </a:solidFill>
                <a:latin typeface="Consolas" panose="020B0609020204030204"/>
                <a:ea typeface="Consolas" panose="020B0609020204030204"/>
              </a:rPr>
              <a:t>$ACCOUNT_NUMBER</a:t>
            </a:r>
            <a:r>
              <a:rPr sz="1600" b="0">
                <a:solidFill>
                  <a:srgbClr val="A5D6FF"/>
                </a:solidFill>
                <a:latin typeface="Consolas" panose="020B0609020204030204"/>
                <a:ea typeface="Consolas" panose="020B0609020204030204"/>
              </a:rPr>
              <a:t>"</a:t>
            </a:r>
            <a:endParaRPr sz="1600" b="0">
              <a:solidFill>
                <a:srgbClr val="A5D6FF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        </a:t>
            </a:r>
            <a:r>
              <a:rPr sz="16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return</a:t>
            </a:r>
            <a:endParaRPr sz="1600" b="0">
              <a:solidFill>
                <a:srgbClr val="C586C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    </a:t>
            </a:r>
            <a:r>
              <a:rPr sz="16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fi</a:t>
            </a:r>
            <a:endParaRPr sz="1600" b="0">
              <a:solidFill>
                <a:srgbClr val="C586C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    </a:t>
            </a:r>
            <a:r>
              <a:rPr sz="1600" b="0">
                <a:solidFill>
                  <a:srgbClr val="C586C0"/>
                </a:solidFill>
                <a:latin typeface="Consolas" panose="020B0609020204030204"/>
                <a:ea typeface="Consolas" panose="020B0609020204030204"/>
              </a:rPr>
              <a:t>done</a:t>
            </a:r>
            <a:endParaRPr sz="1600" b="0">
              <a:solidFill>
                <a:srgbClr val="C586C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425"/>
              </a:lnSpc>
            </a:pPr>
            <a:r>
              <a:rPr sz="1600" b="0">
                <a:solidFill>
                  <a:srgbClr val="BBBEBF"/>
                </a:solidFill>
                <a:latin typeface="Consolas" panose="020B0609020204030204"/>
                <a:ea typeface="Consolas" panose="020B0609020204030204"/>
              </a:rPr>
              <a:t>}</a:t>
            </a:r>
            <a:endParaRPr sz="1600" b="0">
              <a:solidFill>
                <a:srgbClr val="BBBEBF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15331" y="2686050"/>
            <a:ext cx="576118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lus Jakarta Sans"/>
              </a:rPr>
              <a:t>03. Evaluation &amp; Results</a:t>
            </a:r>
            <a:endParaRPr sz="3900" b="1" i="0" u="none">
              <a:solidFill>
                <a:srgbClr val="FFFFFF"/>
              </a:solidFill>
              <a:latin typeface="Plus Jakarta San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715000" y="3648075"/>
            <a:ext cx="762000" cy="47625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96455"/>
            <a:ext cx="5334000" cy="2362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6775" y="3082230"/>
            <a:ext cx="474345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8250"/>
              </a:lnSpc>
            </a:pPr>
            <a:r>
              <a:rPr sz="8250" b="0" i="0" u="none">
                <a:solidFill>
                  <a:srgbClr val="059669"/>
                </a:solidFill>
                <a:latin typeface="Plus Jakarta Sans ExtraBold"/>
              </a:rPr>
              <a:t>100%</a:t>
            </a:r>
            <a:endParaRPr sz="8250" b="0" i="0" u="none">
              <a:solidFill>
                <a:srgbClr val="059669"/>
              </a:solidFill>
              <a:latin typeface="Plus Jakarta Sans Extra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6775" y="4225230"/>
            <a:ext cx="47434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1" i="0" u="none">
                <a:solidFill>
                  <a:srgbClr val="065F46"/>
                </a:solidFill>
                <a:latin typeface="Inter"/>
              </a:rPr>
              <a:t>Transaction Accuracy</a:t>
            </a:r>
            <a:endParaRPr sz="1650" b="1" i="0" u="none">
              <a:solidFill>
                <a:srgbClr val="065F46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286500" y="2382142"/>
            <a:ext cx="560070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Plus Jakarta Sans"/>
              </a:rPr>
              <a:t>Key System Outcomes</a:t>
            </a:r>
            <a:endParaRPr sz="21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86500" y="2858392"/>
            <a:ext cx="53340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Collision-Free ID Generation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86500" y="3629917"/>
            <a:ext cx="53340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Ledger Data Integrity</a:t>
            </a:r>
            <a:r>
              <a:rPr sz="1350" b="0" i="0" u="none">
                <a:solidFill>
                  <a:srgbClr val="475569"/>
                </a:solidFill>
                <a:latin typeface="Inter"/>
              </a:rPr>
              <a:t> 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86500" y="4401442"/>
            <a:ext cx="5334000" cy="259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475569"/>
                </a:solidFill>
                <a:latin typeface="Inter"/>
              </a:rPr>
              <a:t>Overdraft Interception</a:t>
            </a:r>
            <a:endParaRPr sz="1350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Performance &amp; Verification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TextBox 9"/>
          <p:cNvSpPr txBox="1"/>
          <p:nvPr/>
        </p:nvSpPr>
        <p:spPr>
          <a:xfrm>
            <a:off x="371475" y="188535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>
                <a:solidFill>
                  <a:srgbClr val="0F172A"/>
                </a:solidFill>
                <a:latin typeface="Plus Jakarta Sans"/>
              </a:rPr>
              <a:t>Results</a:t>
            </a:r>
            <a:endParaRPr lang="en-US" sz="2700" b="1" i="0" u="none">
              <a:solidFill>
                <a:srgbClr val="0F172A"/>
              </a:solidFill>
              <a:latin typeface="Plus Jakarta Sans"/>
            </a:endParaRPr>
          </a:p>
        </p:txBody>
      </p:sp>
      <p:pic>
        <p:nvPicPr>
          <p:cNvPr id="31" name="Picture 30"/>
          <p:cNvPicPr/>
          <p:nvPr/>
        </p:nvPicPr>
        <p:blipFill>
          <a:blip r:embed="rId1"/>
          <a:stretch>
            <a:fillRect/>
          </a:stretch>
        </p:blipFill>
        <p:spPr>
          <a:xfrm>
            <a:off x="904240" y="709295"/>
            <a:ext cx="5258435" cy="3257550"/>
          </a:xfrm>
          <a:prstGeom prst="rect">
            <a:avLst/>
          </a:prstGeom>
        </p:spPr>
      </p:pic>
      <p:pic>
        <p:nvPicPr>
          <p:cNvPr id="32" name="Picture 31"/>
          <p:cNvPicPr/>
          <p:nvPr/>
        </p:nvPicPr>
        <p:blipFill>
          <a:blip r:embed="rId2"/>
          <a:stretch>
            <a:fillRect/>
          </a:stretch>
        </p:blipFill>
        <p:spPr>
          <a:xfrm>
            <a:off x="6162516" y="3543141"/>
            <a:ext cx="5943917" cy="331501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/>
          <p:cNvPicPr/>
          <p:nvPr/>
        </p:nvPicPr>
        <p:blipFill>
          <a:blip r:embed="rId1"/>
          <a:stretch>
            <a:fillRect/>
          </a:stretch>
        </p:blipFill>
        <p:spPr>
          <a:xfrm>
            <a:off x="2553335" y="1701165"/>
            <a:ext cx="7181215" cy="31311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71475" y="188535"/>
            <a:ext cx="11601450" cy="4152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1" i="0" u="none">
                <a:solidFill>
                  <a:srgbClr val="0F172A"/>
                </a:solidFill>
                <a:latin typeface="Plus Jakarta Sans"/>
              </a:rPr>
              <a:t>Results (cont.)</a:t>
            </a:r>
            <a:endParaRPr lang="en-US" sz="27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82155"/>
            <a:ext cx="3524250" cy="2590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3875" y="2482155"/>
            <a:ext cx="3524250" cy="2590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0" y="2482155"/>
            <a:ext cx="3524250" cy="2590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777430"/>
            <a:ext cx="514350" cy="5143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6775" y="3482280"/>
            <a:ext cx="231794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Lightweight Prototype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6775" y="3863280"/>
            <a:ext cx="29337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Demonstrates how native shell automation handles transactional file processing without full database engine overhead.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29150" y="2777430"/>
            <a:ext cx="514350" cy="5143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29150" y="3482280"/>
            <a:ext cx="172990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SQLite Migration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629150" y="3863280"/>
            <a:ext cx="29337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Future upgrade path includes transitioning flat CSV storage to SQLite for handling complex relational queries.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1525" y="2777430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91525" y="3482280"/>
            <a:ext cx="1971183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lus Jakarta Sans"/>
              </a:rPr>
              <a:t>Process Lock &amp; GUI</a:t>
            </a:r>
            <a:endParaRPr sz="165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91525" y="3863280"/>
            <a:ext cx="293370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Inter"/>
              </a:rPr>
              <a:t>Implementing </a:t>
            </a:r>
            <a:r>
              <a:rPr sz="1200" b="0" i="0" u="none">
                <a:solidFill>
                  <a:srgbClr val="059669"/>
                </a:solidFill>
                <a:latin typeface="Inter"/>
              </a:rPr>
              <a:t>flock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for multi-user parallel execution and crafting a modern web/GUI frontend wrapper.</a:t>
            </a:r>
            <a:endParaRPr sz="1200" b="0" i="0" u="none">
              <a:solidFill>
                <a:srgbClr val="475569"/>
              </a:solidFill>
              <a:latin typeface="Inter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3937" y="2920305"/>
            <a:ext cx="2000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86312" y="2920305"/>
            <a:ext cx="2000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8687" y="2920305"/>
            <a:ext cx="200025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411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 u="none">
                <a:solidFill>
                  <a:srgbClr val="0F172A"/>
                </a:solidFill>
                <a:latin typeface="Plus Jakarta Sans"/>
              </a:rPr>
              <a:t>Practical Implications &amp; Future Scope</a:t>
            </a:r>
            <a:endParaRPr sz="27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71500" y="887610"/>
            <a:ext cx="7620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295275" y="476250"/>
            <a:ext cx="11601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lus Jakarta Sans"/>
              </a:rPr>
              <a:t>Questions &amp; Answers</a:t>
            </a:r>
            <a:endParaRPr sz="4800" b="1" i="0" u="none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71500" y="3552825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64748B"/>
                </a:solidFill>
                <a:latin typeface="Inter"/>
              </a:rPr>
              <a:t>Thank you for your attention!</a:t>
            </a:r>
            <a:endParaRPr sz="1800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353" name="Google Shape;353;p1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32683" y="0"/>
            <a:ext cx="12224684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3"/>
          <p:cNvSpPr txBox="1"/>
          <p:nvPr/>
        </p:nvSpPr>
        <p:spPr>
          <a:xfrm>
            <a:off x="278765" y="546100"/>
            <a:ext cx="1160145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0F172A"/>
                </a:solidFill>
                <a:latin typeface="Plus Jakarta Sans"/>
              </a:rPr>
              <a:t>Questions &amp; Answers</a:t>
            </a:r>
            <a:endParaRPr sz="4800" b="1" i="0" u="none">
              <a:solidFill>
                <a:srgbClr val="0F172A"/>
              </a:solidFill>
              <a:latin typeface="Plus Jakart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2331</Words>
  <Application>WPS Presentation</Application>
  <PresentationFormat>On-screen Show (4:3)</PresentationFormat>
  <Paragraphs>129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SimSun</vt:lpstr>
      <vt:lpstr>Wingdings</vt:lpstr>
      <vt:lpstr>Arial</vt:lpstr>
      <vt:lpstr>Plus Jakarta Sans ExtraBold</vt:lpstr>
      <vt:lpstr>Siyam Rupali</vt:lpstr>
      <vt:lpstr>Times New Roman</vt:lpstr>
      <vt:lpstr>Plus Jakarta Sans</vt:lpstr>
      <vt:lpstr>Inter</vt:lpstr>
      <vt:lpstr>Courier New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Rasel</cp:lastModifiedBy>
  <cp:revision>5</cp:revision>
  <dcterms:created xsi:type="dcterms:W3CDTF">2013-01-27T09:14:00Z</dcterms:created>
  <dcterms:modified xsi:type="dcterms:W3CDTF">2026-08-23T17:05:35Z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E85F9BE3E6814700A1C9D5F25F260653_12</vt:lpwstr>
  </property>
  <property fmtid="{D5CDD505-2E9C-101B-9397-08002B2CF9AE}" pid="3" name="KSOProductBuildVer">
    <vt:lpwstr>2057-12.2.0.23206</vt:lpwstr>
  </property>
</Properties>
</file>